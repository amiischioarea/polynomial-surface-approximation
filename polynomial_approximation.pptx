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0" d="100"/>
          <a:sy n="50" d="100"/>
        </p:scale>
        <p:origin x="53" y="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477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305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747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487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5587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7342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3495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6479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9782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473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0387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0948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7605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8232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0986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249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61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052D1-6388-4474-82DC-DCB0ECB557DC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9C5C0B3-226D-4650-969B-41C73463B9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064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734C-D175-DC63-0939-50E541A9C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64" y="-530352"/>
            <a:ext cx="13112495" cy="2262781"/>
          </a:xfrm>
        </p:spPr>
        <p:txBody>
          <a:bodyPr>
            <a:normAutofit/>
          </a:bodyPr>
          <a:lstStyle/>
          <a:p>
            <a:r>
              <a:rPr lang="en-US" sz="5000" b="1" i="1" dirty="0" err="1">
                <a:solidFill>
                  <a:schemeClr val="accent1"/>
                </a:solidFill>
              </a:rPr>
              <a:t>Modelarea</a:t>
            </a:r>
            <a:r>
              <a:rPr lang="en-US" sz="5000" b="1" i="1" dirty="0">
                <a:solidFill>
                  <a:schemeClr val="accent1"/>
                </a:solidFill>
              </a:rPr>
              <a:t> </a:t>
            </a:r>
            <a:r>
              <a:rPr lang="en-US" sz="5000" b="1" i="1" dirty="0" err="1">
                <a:solidFill>
                  <a:schemeClr val="accent1"/>
                </a:solidFill>
              </a:rPr>
              <a:t>unei</a:t>
            </a:r>
            <a:r>
              <a:rPr lang="en-US" sz="5000" b="1" i="1" dirty="0">
                <a:solidFill>
                  <a:schemeClr val="accent1"/>
                </a:solidFill>
              </a:rPr>
              <a:t> </a:t>
            </a:r>
            <a:r>
              <a:rPr lang="en-US" sz="5000" b="1" i="1" dirty="0" err="1">
                <a:solidFill>
                  <a:schemeClr val="accent1"/>
                </a:solidFill>
              </a:rPr>
              <a:t>functii</a:t>
            </a:r>
            <a:r>
              <a:rPr lang="en-US" sz="5000" b="1" i="1" dirty="0">
                <a:solidFill>
                  <a:schemeClr val="accent1"/>
                </a:solidFill>
              </a:rPr>
              <a:t> </a:t>
            </a:r>
            <a:r>
              <a:rPr lang="en-US" sz="5000" b="1" i="1" dirty="0" err="1">
                <a:solidFill>
                  <a:schemeClr val="accent1"/>
                </a:solidFill>
              </a:rPr>
              <a:t>necunoscute</a:t>
            </a:r>
            <a:endParaRPr lang="ro-RO" sz="50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3C490-8015-70C4-9C35-9A1F20BB7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5204" y="2377441"/>
            <a:ext cx="4881435" cy="247466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~ Antonio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Almasan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~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Culda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Alisa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~ Motoc Amelie</a:t>
            </a:r>
            <a:endParaRPr lang="ro-RO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A8682-AB5A-A885-852D-D6D66B9E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73" y="2192727"/>
            <a:ext cx="3442467" cy="30773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277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5658A-4EE0-CB14-8DD5-E62EEE759080}"/>
              </a:ext>
            </a:extLst>
          </p:cNvPr>
          <p:cNvSpPr txBox="1"/>
          <p:nvPr/>
        </p:nvSpPr>
        <p:spPr>
          <a:xfrm>
            <a:off x="1289304" y="950976"/>
            <a:ext cx="79278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 err="1">
                <a:solidFill>
                  <a:schemeClr val="accent1">
                    <a:lumMod val="75000"/>
                  </a:schemeClr>
                </a:solidFill>
              </a:rPr>
              <a:t>Descrierea</a:t>
            </a:r>
            <a:r>
              <a:rPr lang="en-US" sz="4000" b="1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i="1" dirty="0" err="1">
                <a:solidFill>
                  <a:schemeClr val="accent1">
                    <a:lumMod val="75000"/>
                  </a:schemeClr>
                </a:solidFill>
              </a:rPr>
              <a:t>problemei</a:t>
            </a:r>
            <a:endParaRPr lang="en-US" sz="4000" b="1" i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ro-R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1CE7C-FFD4-E386-06A5-553B656CD69D}"/>
              </a:ext>
            </a:extLst>
          </p:cNvPr>
          <p:cNvSpPr txBox="1"/>
          <p:nvPr/>
        </p:nvSpPr>
        <p:spPr>
          <a:xfrm>
            <a:off x="1399032" y="1597307"/>
            <a:ext cx="9253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	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~ p</a:t>
            </a:r>
            <a:r>
              <a:rPr lang="ro-RO" sz="2400" dirty="0" err="1">
                <a:solidFill>
                  <a:schemeClr val="accent1">
                    <a:lumMod val="75000"/>
                  </a:schemeClr>
                </a:solidFill>
              </a:rPr>
              <a:t>roblema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 abordată constă în aproximarea unei suprafețe definite de două variabile de intrare, x1 și x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​, și o variabilă de ieșire y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~ s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e urmărește construirea unui model care să aproximeze cât mai bine valorile măsurate, folosind regresie polinomială bidimensională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~ m</a:t>
            </a:r>
            <a:r>
              <a:rPr lang="ro-RO" sz="2400" dirty="0" err="1">
                <a:solidFill>
                  <a:schemeClr val="accent1">
                    <a:lumMod val="75000"/>
                  </a:schemeClr>
                </a:solidFill>
              </a:rPr>
              <a:t>odelul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 obținut este evaluat atât pe datele de antrenare, cât și pe un set de validare,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incercandu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– se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gasirea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unei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erori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medii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patratice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un grad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optim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9192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3395-D7A2-94BE-69AE-1F7E9BD6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258350"/>
            <a:ext cx="10718227" cy="1280890"/>
          </a:xfrm>
        </p:spPr>
        <p:txBody>
          <a:bodyPr>
            <a:noAutofit/>
          </a:bodyPr>
          <a:lstStyle/>
          <a:p>
            <a:pPr algn="ctr"/>
            <a:r>
              <a:rPr lang="ro-RO" sz="4000" b="1" i="1" dirty="0">
                <a:solidFill>
                  <a:schemeClr val="accent1">
                    <a:lumMod val="75000"/>
                  </a:schemeClr>
                </a:solidFill>
              </a:rPr>
              <a:t>Structura aproximatorului și procedura de determinare a parametrilor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442A6-254F-FD1A-D8AA-05B4689483C9}"/>
              </a:ext>
            </a:extLst>
          </p:cNvPr>
          <p:cNvSpPr txBox="1"/>
          <p:nvPr/>
        </p:nvSpPr>
        <p:spPr>
          <a:xfrm>
            <a:off x="1234440" y="1732547"/>
            <a:ext cx="92570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Aproximatorul folosește un polinom de ordin m în variabilele x1​ și x2​.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 Ideea este să construim un set de termeni de forma 1,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x1,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x2,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x1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^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2,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x1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*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x2,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x2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^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…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și să găsim coeficienții care fac ca polinomul să se potrivească cel mai bine cu datele disponibile.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Matricea de regresori este generată prin combinațiile posibile de puteri ale variabilelor x1,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x2​ până la gradul m.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			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Astfel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, c</a:t>
            </a:r>
            <a:r>
              <a:rPr lang="ro-RO" sz="2400" dirty="0" err="1">
                <a:solidFill>
                  <a:schemeClr val="accent1">
                    <a:lumMod val="75000"/>
                  </a:schemeClr>
                </a:solidFill>
              </a:rPr>
              <a:t>oeficienții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 se obțin automat folosind metoda celor mai mici pătrate, care caută cea mai mică sumă a diferențelor pătratice dintre model și datele reale.</a:t>
            </a:r>
          </a:p>
        </p:txBody>
      </p:sp>
    </p:spTree>
    <p:extLst>
      <p:ext uri="{BB962C8B-B14F-4D97-AF65-F5344CB8AC3E}">
        <p14:creationId xmlns:p14="http://schemas.microsoft.com/office/powerpoint/2010/main" val="71450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6491-F9DF-E6C4-C99D-707D9371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204" y="563150"/>
            <a:ext cx="8911687" cy="1280890"/>
          </a:xfrm>
        </p:spPr>
        <p:txBody>
          <a:bodyPr>
            <a:normAutofit/>
          </a:bodyPr>
          <a:lstStyle/>
          <a:p>
            <a:r>
              <a:rPr lang="ro-RO" sz="4000" b="1" i="1" dirty="0">
                <a:solidFill>
                  <a:schemeClr val="accent1">
                    <a:lumMod val="75000"/>
                  </a:schemeClr>
                </a:solidFill>
              </a:rPr>
              <a:t>Caracteristici esențiale ale soluției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B3D1A-BE1D-6061-AED6-9E44C96685CE}"/>
              </a:ext>
            </a:extLst>
          </p:cNvPr>
          <p:cNvSpPr txBox="1"/>
          <p:nvPr/>
        </p:nvSpPr>
        <p:spPr>
          <a:xfrm>
            <a:off x="988476" y="1597641"/>
            <a:ext cx="102738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Soluția propusă este flexibilă și ușor de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folosit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. Modelul testează mai multe grade ale polinomului  și alege gradul optim pe baza performanței.</a:t>
            </a:r>
            <a:br>
              <a:rPr lang="ro-RO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In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aceasta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 metod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a, 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codul selectează singur modelul cel mai potrivit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si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se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adapteaza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adaptabil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orice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 set de date </a:t>
            </a:r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bidimensionale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Gradul polinomului mmm este ales automat în funcție de minimul erorii MSE pe validare.</a:t>
            </a:r>
          </a:p>
        </p:txBody>
      </p:sp>
    </p:spTree>
    <p:extLst>
      <p:ext uri="{BB962C8B-B14F-4D97-AF65-F5344CB8AC3E}">
        <p14:creationId xmlns:p14="http://schemas.microsoft.com/office/powerpoint/2010/main" val="4109707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AA49-04DF-32D2-B108-848EF70B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0" y="563150"/>
            <a:ext cx="10881360" cy="1280890"/>
          </a:xfrm>
        </p:spPr>
        <p:txBody>
          <a:bodyPr>
            <a:noAutofit/>
          </a:bodyPr>
          <a:lstStyle/>
          <a:p>
            <a:r>
              <a:rPr lang="ro-RO" sz="3800" b="1" i="1" dirty="0">
                <a:solidFill>
                  <a:schemeClr val="accent1">
                    <a:lumMod val="75000"/>
                  </a:schemeClr>
                </a:solidFill>
              </a:rPr>
              <a:t>Rezultate de acordare (MSE în funcție de 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6C399-0D51-A300-1ACF-0C3B46527DD5}"/>
              </a:ext>
            </a:extLst>
          </p:cNvPr>
          <p:cNvSpPr txBox="1"/>
          <p:nvPr/>
        </p:nvSpPr>
        <p:spPr>
          <a:xfrm>
            <a:off x="457200" y="1264555"/>
            <a:ext cx="54787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	</a:t>
            </a:r>
            <a:r>
              <a:rPr lang="ro-RO" sz="2800" dirty="0"/>
              <a:t>Graficul confirmă comportamentul teoretic așteptat: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sz="2800" dirty="0"/>
              <a:t>erorile scad la început</a:t>
            </a:r>
            <a:r>
              <a:rPr lang="en-US" sz="2800" dirty="0"/>
              <a:t> </a:t>
            </a:r>
            <a:r>
              <a:rPr lang="ro-RO" sz="2800" dirty="0"/>
              <a:t>(</a:t>
            </a:r>
            <a:r>
              <a:rPr lang="en-US" sz="2800" dirty="0" err="1"/>
              <a:t>fenomen</a:t>
            </a:r>
            <a:r>
              <a:rPr lang="en-US" sz="2800" dirty="0"/>
              <a:t> de underfitting</a:t>
            </a:r>
            <a:r>
              <a:rPr lang="ro-RO" sz="2800" dirty="0"/>
              <a:t>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sz="2800" dirty="0"/>
              <a:t>ating un minim (modelul optim);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sz="2800" dirty="0"/>
              <a:t>apoi cresc (</a:t>
            </a:r>
            <a:r>
              <a:rPr lang="en-US" sz="2800" dirty="0" err="1"/>
              <a:t>fenomen</a:t>
            </a:r>
            <a:r>
              <a:rPr lang="en-US" sz="2800" dirty="0"/>
              <a:t> de overfitting</a:t>
            </a:r>
            <a:r>
              <a:rPr lang="ro-RO" sz="2800" dirty="0"/>
              <a:t>)</a:t>
            </a:r>
            <a:r>
              <a:rPr lang="en-US" sz="2800" dirty="0"/>
              <a:t>;</a:t>
            </a:r>
            <a:endParaRPr lang="ro-RO" sz="2800" dirty="0"/>
          </a:p>
          <a:p>
            <a:endParaRPr lang="ro-RO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83A8E-A629-42A3-E8DE-D1CF903F8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980" y="1455561"/>
            <a:ext cx="6096000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8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8F29-A445-FE11-8A7C-ED52AA07C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84" y="441230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solidFill>
                  <a:schemeClr val="accent1">
                    <a:lumMod val="75000"/>
                  </a:schemeClr>
                </a:solidFill>
              </a:rPr>
              <a:t>Graficele</a:t>
            </a:r>
            <a:r>
              <a:rPr lang="en-US" sz="4000" b="1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i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4000" b="1" i="1" dirty="0">
                <a:solidFill>
                  <a:schemeClr val="accent1">
                    <a:lumMod val="75000"/>
                  </a:schemeClr>
                </a:solidFill>
              </a:rPr>
              <a:t> m = 20</a:t>
            </a:r>
            <a:endParaRPr lang="ro-RO" sz="40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EF720-F66E-4E98-635F-AE48C2BC4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81" y="1481852"/>
            <a:ext cx="5222198" cy="396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6DF3CA-28F3-18B4-5DA4-F6EF6C203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19" y="1508760"/>
            <a:ext cx="5318537" cy="393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5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C816-383F-B70B-01DC-AC146063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005" y="349790"/>
            <a:ext cx="4691796" cy="1280890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ro-RO" sz="4000" b="1" i="1" dirty="0" err="1">
                <a:solidFill>
                  <a:schemeClr val="accent1">
                    <a:lumMod val="75000"/>
                  </a:schemeClr>
                </a:solidFill>
              </a:rPr>
              <a:t>oncluzii</a:t>
            </a:r>
            <a:endParaRPr lang="ro-RO" sz="40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7B9849-2C74-EAD9-40E0-FEAD910F7866}"/>
              </a:ext>
            </a:extLst>
          </p:cNvPr>
          <p:cNvSpPr txBox="1"/>
          <p:nvPr/>
        </p:nvSpPr>
        <p:spPr>
          <a:xfrm>
            <a:off x="1219200" y="1351508"/>
            <a:ext cx="9997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Rezultatele arată că metoda de aproximare polinomială este eficientă și ușor de implementat.</a:t>
            </a:r>
            <a:br>
              <a:rPr lang="ro-RO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Un polinom de grad prea mic nu reușește să descrie bine datele, iar unul prea mare învață și “zgomotul” din date.</a:t>
            </a:r>
            <a:br>
              <a:rPr lang="ro-RO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Modelul ales automat oferă cea mai bună performanță, demonstrând că procedura de validare este aplicată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bine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Astfel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, m</a:t>
            </a:r>
            <a:r>
              <a:rPr lang="ro-RO" sz="2400" dirty="0" err="1">
                <a:solidFill>
                  <a:schemeClr val="accent1">
                    <a:lumMod val="75000"/>
                  </a:schemeClr>
                </a:solidFill>
              </a:rPr>
              <a:t>odelul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 polinomial obținut oferă un echilibru între precizie și complexitate.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												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Alegerea gradului optim minimizează eroarea pe validare, evitând </a:t>
            </a:r>
            <a:r>
              <a:rPr lang="ro-RO" sz="2400" dirty="0" err="1">
                <a:solidFill>
                  <a:schemeClr val="accent1">
                    <a:lumMod val="75000"/>
                  </a:schemeClr>
                </a:solidFill>
              </a:rPr>
              <a:t>supraa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ntrenarea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br>
              <a:rPr lang="ro-RO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ro-RO" sz="2400" dirty="0">
                <a:solidFill>
                  <a:schemeClr val="accent1">
                    <a:lumMod val="75000"/>
                  </a:schemeClr>
                </a:solidFill>
              </a:rPr>
              <a:t>Eroarea finală MSE este mică, iar suprafețele reconstruite sunt aproape identice cu cele originale.</a:t>
            </a:r>
          </a:p>
        </p:txBody>
      </p:sp>
    </p:spTree>
    <p:extLst>
      <p:ext uri="{BB962C8B-B14F-4D97-AF65-F5344CB8AC3E}">
        <p14:creationId xmlns:p14="http://schemas.microsoft.com/office/powerpoint/2010/main" val="389616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AB4A-5347-A12B-0147-D5E8DB72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724" y="502190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i="1" dirty="0" err="1">
                <a:solidFill>
                  <a:schemeClr val="accent1">
                    <a:lumMod val="75000"/>
                  </a:schemeClr>
                </a:solidFill>
              </a:rPr>
              <a:t>Anexa</a:t>
            </a:r>
            <a:endParaRPr lang="ro-RO" sz="40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0908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154</TotalTime>
  <Words>483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Modelarea unei functii necunoscute</vt:lpstr>
      <vt:lpstr>PowerPoint Presentation</vt:lpstr>
      <vt:lpstr>Structura aproximatorului și procedura de determinare a parametrilor</vt:lpstr>
      <vt:lpstr>Caracteristici esențiale ale soluției</vt:lpstr>
      <vt:lpstr>Rezultate de acordare (MSE în funcție de m)</vt:lpstr>
      <vt:lpstr>Graficele pentru m = 20</vt:lpstr>
      <vt:lpstr>Concluzii</vt:lpstr>
      <vt:lpstr>Anexa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Amelie Iulia Motoc</dc:creator>
  <cp:lastModifiedBy>Amelie Iulia Motoc</cp:lastModifiedBy>
  <cp:revision>1</cp:revision>
  <dcterms:created xsi:type="dcterms:W3CDTF">2025-11-03T19:37:51Z</dcterms:created>
  <dcterms:modified xsi:type="dcterms:W3CDTF">2025-11-03T22:12:16Z</dcterms:modified>
</cp:coreProperties>
</file>